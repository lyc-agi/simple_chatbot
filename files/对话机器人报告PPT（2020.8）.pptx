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3"/>
    <p:sldId id="363" r:id="rId4"/>
    <p:sldId id="347" r:id="rId5"/>
    <p:sldId id="368" r:id="rId6"/>
    <p:sldId id="388" r:id="rId7"/>
    <p:sldId id="387" r:id="rId8"/>
    <p:sldId id="389" r:id="rId9"/>
    <p:sldId id="390" r:id="rId10"/>
    <p:sldId id="372" r:id="rId11"/>
    <p:sldId id="391" r:id="rId12"/>
    <p:sldId id="371" r:id="rId13"/>
    <p:sldId id="33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584" autoAdjust="0"/>
  </p:normalViewPr>
  <p:slideViewPr>
    <p:cSldViewPr snapToGrid="0" snapToObjects="1">
      <p:cViewPr varScale="1">
        <p:scale>
          <a:sx n="81" d="100"/>
          <a:sy n="81" d="100"/>
        </p:scale>
        <p:origin x="725" y="67"/>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4FB599-8046-5F44-9504-3A67B2E25B06}"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5D973A-F0BB-7C49-AFD0-A9753D81AFC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zh-CN" altLang="en-US"/>
              <a:t>单击此处编辑母版标题样式</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257300" y="2909102"/>
            <a:ext cx="4800600" cy="299639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633864" y="2909102"/>
            <a:ext cx="4800600" cy="299639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zh-CN" altLang="en-US"/>
              <a:t>单击此处编辑母版标题样式</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hasCustomPrompt="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0574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20574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zh-CN" altLang="en-US" sz="7200" dirty="0"/>
              <a:t>基于语义推理的</a:t>
            </a:r>
            <a:br>
              <a:rPr kumimoji="1" lang="en-US" altLang="zh-CN" sz="7200" dirty="0"/>
            </a:br>
            <a:r>
              <a:rPr kumimoji="1" lang="zh-CN" altLang="en-US" sz="7200" dirty="0"/>
              <a:t>对话机器人</a:t>
            </a:r>
            <a:br>
              <a:rPr kumimoji="1" lang="zh-CN" altLang="en-US" sz="8800" dirty="0"/>
            </a:br>
            <a:endParaRPr kumimoji="1" lang="zh-CN" altLang="en-US" sz="8800" dirty="0"/>
          </a:p>
        </p:txBody>
      </p:sp>
      <p:sp>
        <p:nvSpPr>
          <p:cNvPr id="3" name="副标题 2"/>
          <p:cNvSpPr>
            <a:spLocks noGrp="1"/>
          </p:cNvSpPr>
          <p:nvPr>
            <p:ph type="subTitle" idx="1"/>
          </p:nvPr>
        </p:nvSpPr>
        <p:spPr>
          <a:xfrm>
            <a:off x="2215045" y="4523819"/>
            <a:ext cx="8045373" cy="1641475"/>
          </a:xfrm>
        </p:spPr>
        <p:txBody>
          <a:bodyPr>
            <a:normAutofit/>
          </a:bodyPr>
          <a:lstStyle/>
          <a:p>
            <a:r>
              <a:rPr kumimoji="1" lang="zh-CN" altLang="en-US" sz="2400" dirty="0"/>
              <a:t>刘逸川</a:t>
            </a:r>
            <a:endParaRPr kumimoji="1" lang="en-US" altLang="zh-CN" sz="2400" dirty="0"/>
          </a:p>
          <a:p>
            <a:r>
              <a:rPr kumimoji="1" lang="en-US" altLang="zh-CN" sz="2400" dirty="0"/>
              <a:t>2020</a:t>
            </a:r>
            <a:r>
              <a:rPr kumimoji="1" lang="zh-CN" altLang="en-US" sz="2400" dirty="0"/>
              <a:t>年</a:t>
            </a:r>
            <a:r>
              <a:rPr kumimoji="1" lang="en-US" altLang="zh-CN" sz="2400" dirty="0"/>
              <a:t>8</a:t>
            </a:r>
            <a:r>
              <a:rPr kumimoji="1" lang="zh-CN" altLang="en-US" sz="2400" dirty="0"/>
              <a:t>月</a:t>
            </a:r>
            <a:r>
              <a:rPr kumimoji="1" lang="en-US" altLang="zh-CN" sz="2400" dirty="0"/>
              <a:t>25</a:t>
            </a:r>
            <a:r>
              <a:rPr kumimoji="1" lang="zh-CN" altLang="en-US" sz="2400" dirty="0"/>
              <a:t>日</a:t>
            </a:r>
            <a:endParaRPr kumimoji="1" lang="en-US" altLang="zh-CN" sz="2400" dirty="0"/>
          </a:p>
          <a:p>
            <a:r>
              <a:rPr kumimoji="1" lang="zh-CN" altLang="en-US" sz="2400"/>
              <a:t>指导教师：蔡恒进教授</a:t>
            </a:r>
            <a:endParaRPr kumimoji="1" lang="zh-CN" alt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目录</a:t>
            </a:r>
            <a:endParaRPr kumimoji="1" lang="zh-CN" altLang="en-US" dirty="0"/>
          </a:p>
        </p:txBody>
      </p:sp>
      <p:sp>
        <p:nvSpPr>
          <p:cNvPr id="7" name="内容占位符 2"/>
          <p:cNvSpPr>
            <a:spLocks noGrp="1"/>
          </p:cNvSpPr>
          <p:nvPr>
            <p:ph idx="1"/>
          </p:nvPr>
        </p:nvSpPr>
        <p:spPr>
          <a:xfrm>
            <a:off x="1251678" y="1874517"/>
            <a:ext cx="6327473" cy="3659017"/>
          </a:xfrm>
        </p:spPr>
        <p:txBody>
          <a:bodyPr>
            <a:noAutofit/>
          </a:bodyPr>
          <a:lstStyle/>
          <a:p>
            <a:r>
              <a:rPr lang="zh-CN" altLang="en-US" sz="3600" dirty="0"/>
              <a:t>基本思路</a:t>
            </a:r>
            <a:endParaRPr lang="en-US" altLang="zh-CN" sz="3600" dirty="0"/>
          </a:p>
          <a:p>
            <a:r>
              <a:rPr lang="zh-CN" altLang="en-US" sz="3600" dirty="0"/>
              <a:t>算法流程</a:t>
            </a:r>
            <a:endParaRPr lang="en-US" altLang="zh-CN" sz="3600" dirty="0"/>
          </a:p>
          <a:p>
            <a:r>
              <a:rPr lang="zh-CN" altLang="en-US" sz="3600" dirty="0"/>
              <a:t>核心算法</a:t>
            </a:r>
            <a:endParaRPr lang="en-US" altLang="zh-CN" sz="3600" dirty="0"/>
          </a:p>
          <a:p>
            <a:r>
              <a:rPr kumimoji="1" lang="zh-CN" altLang="en-US" sz="3600" dirty="0"/>
              <a:t>总结</a:t>
            </a:r>
            <a:endParaRPr lang="en-US" altLang="zh-CN"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基本思路：</a:t>
            </a:r>
            <a:r>
              <a:rPr lang="zh-CN" altLang="en-US" dirty="0"/>
              <a:t>符号主义</a:t>
            </a:r>
            <a:r>
              <a:rPr lang="en-US" altLang="zh-CN" dirty="0"/>
              <a:t>+</a:t>
            </a:r>
            <a:r>
              <a:rPr lang="zh-CN" altLang="en-US" dirty="0"/>
              <a:t>连接主义</a:t>
            </a:r>
            <a:endParaRPr kumimoji="1" lang="zh-CN" altLang="en-US" dirty="0"/>
          </a:p>
        </p:txBody>
      </p:sp>
      <p:sp>
        <p:nvSpPr>
          <p:cNvPr id="4" name="内容占位符 3"/>
          <p:cNvSpPr>
            <a:spLocks noGrp="1"/>
          </p:cNvSpPr>
          <p:nvPr>
            <p:ph idx="1"/>
          </p:nvPr>
        </p:nvSpPr>
        <p:spPr>
          <a:xfrm>
            <a:off x="1251678" y="1874517"/>
            <a:ext cx="10178322" cy="4248755"/>
          </a:xfrm>
        </p:spPr>
        <p:txBody>
          <a:bodyPr>
            <a:normAutofit/>
          </a:bodyPr>
          <a:lstStyle/>
          <a:p>
            <a:r>
              <a:rPr lang="zh-CN" altLang="en-US" sz="2800" dirty="0"/>
              <a:t>核心算法是</a:t>
            </a:r>
            <a:r>
              <a:rPr lang="zh-CN" altLang="en-US" sz="2800" b="1" dirty="0"/>
              <a:t>符号推理</a:t>
            </a:r>
            <a:r>
              <a:rPr lang="zh-CN" altLang="en-US" sz="2800" dirty="0"/>
              <a:t>，而采用的知识图谱、词向量和情感分析是第三方通过深度学习生成的</a:t>
            </a:r>
            <a:endParaRPr lang="en-US" altLang="zh-CN" sz="2800" dirty="0"/>
          </a:p>
          <a:p>
            <a:r>
              <a:rPr lang="zh-CN" altLang="en-US" sz="2800" dirty="0"/>
              <a:t>符号推理延续了传统的符号主义思路，或者说老式人工智能（</a:t>
            </a:r>
            <a:r>
              <a:rPr lang="en-US" altLang="zh-CN" sz="2800" dirty="0"/>
              <a:t>GOFAI</a:t>
            </a:r>
            <a:r>
              <a:rPr lang="zh-CN" altLang="en-US" sz="2800" dirty="0"/>
              <a:t>）的思路，基于笛卡尔式的观念：</a:t>
            </a:r>
            <a:r>
              <a:rPr lang="zh-CN" altLang="en-US" sz="2800" b="1" dirty="0"/>
              <a:t>所有的理解都是形式化的并恰当使用的符号表征</a:t>
            </a:r>
            <a:endParaRPr lang="zh-CN" altLang="en-US" sz="2800" dirty="0"/>
          </a:p>
          <a:p>
            <a:r>
              <a:rPr lang="zh-CN" altLang="en-US" sz="2800" dirty="0"/>
              <a:t>通过恰当的符号变换、逻辑推理实现自然语言理解</a:t>
            </a:r>
            <a:endParaRPr lang="zh-CN" altLang="en-US" sz="2800"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基本思路：</a:t>
            </a:r>
            <a:r>
              <a:rPr lang="zh-CN" altLang="en-US" dirty="0"/>
              <a:t>符号主义</a:t>
            </a:r>
            <a:r>
              <a:rPr lang="en-US" altLang="zh-CN" dirty="0"/>
              <a:t>+</a:t>
            </a:r>
            <a:r>
              <a:rPr lang="zh-CN" altLang="en-US" dirty="0"/>
              <a:t>连接主义</a:t>
            </a:r>
            <a:endParaRPr kumimoji="1" lang="zh-CN" altLang="en-US" dirty="0"/>
          </a:p>
        </p:txBody>
      </p:sp>
      <p:sp>
        <p:nvSpPr>
          <p:cNvPr id="7" name="内容占位符 6"/>
          <p:cNvSpPr>
            <a:spLocks noGrp="1"/>
          </p:cNvSpPr>
          <p:nvPr>
            <p:ph idx="1"/>
          </p:nvPr>
        </p:nvSpPr>
        <p:spPr>
          <a:xfrm>
            <a:off x="1251678" y="1926365"/>
            <a:ext cx="10178322" cy="4436728"/>
          </a:xfrm>
        </p:spPr>
        <p:txBody>
          <a:bodyPr>
            <a:noAutofit/>
          </a:bodyPr>
          <a:lstStyle/>
          <a:p>
            <a:r>
              <a:rPr lang="zh-CN" altLang="en-US" sz="2800" dirty="0"/>
              <a:t>我们知道符号主义的先驱者们失败了，主要原因是真实世界往往是比较模糊的，没有明确的符号推理，很多知识是“只可意会不可言传”的，例如专家系统</a:t>
            </a:r>
            <a:endParaRPr lang="en-US" altLang="zh-CN" sz="2800" dirty="0"/>
          </a:p>
          <a:p>
            <a:r>
              <a:rPr lang="zh-CN" altLang="en-US" sz="2800" dirty="0"/>
              <a:t>目前深度学习取得了巨大的成功，但是同样面临很多问题，例如缺乏可解释性：深度学习没有明确的推理过程，这阻碍了深层次的理解</a:t>
            </a:r>
            <a:endParaRPr lang="en-US" altLang="zh-CN" sz="2800" dirty="0"/>
          </a:p>
          <a:p>
            <a:r>
              <a:rPr lang="zh-CN" altLang="en-US" sz="2800" dirty="0"/>
              <a:t>深度学习事实上形式化了真实世界的很多信息，这些信息是符号主义缺乏但是又需要的</a:t>
            </a:r>
            <a:endParaRPr lang="zh-CN"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基本思路：</a:t>
            </a:r>
            <a:r>
              <a:rPr lang="zh-CN" altLang="en-US" dirty="0"/>
              <a:t>符号主义</a:t>
            </a:r>
            <a:r>
              <a:rPr lang="en-US" altLang="zh-CN" dirty="0"/>
              <a:t>+</a:t>
            </a:r>
            <a:r>
              <a:rPr lang="zh-CN" altLang="en-US" dirty="0"/>
              <a:t>连接主义</a:t>
            </a:r>
            <a:endParaRPr kumimoji="1" lang="zh-CN" altLang="en-US" dirty="0"/>
          </a:p>
        </p:txBody>
      </p:sp>
      <p:sp>
        <p:nvSpPr>
          <p:cNvPr id="7" name="内容占位符 6"/>
          <p:cNvSpPr>
            <a:spLocks noGrp="1"/>
          </p:cNvSpPr>
          <p:nvPr>
            <p:ph idx="1"/>
          </p:nvPr>
        </p:nvSpPr>
        <p:spPr>
          <a:xfrm>
            <a:off x="1251678" y="1926365"/>
            <a:ext cx="10178322" cy="4436728"/>
          </a:xfrm>
        </p:spPr>
        <p:txBody>
          <a:bodyPr>
            <a:noAutofit/>
          </a:bodyPr>
          <a:lstStyle/>
          <a:p>
            <a:r>
              <a:rPr lang="zh-CN" altLang="en-US" sz="2800" dirty="0"/>
              <a:t>深度学习形式化的信息，作为符号推理的基础。这二者结合，发挥出符号主义先驱所没有的优势，有希望做出超越他们的成果</a:t>
            </a:r>
            <a:endParaRPr lang="en-US" altLang="zh-CN" sz="2800" dirty="0"/>
          </a:p>
          <a:p>
            <a:r>
              <a:rPr lang="zh-CN" altLang="en-US" sz="2800" dirty="0"/>
              <a:t>就像自动驾驶，通过接受多维度的信息，综合判断，这个判断的过程是本项目的核心任务</a:t>
            </a:r>
            <a:endParaRPr lang="zh-CN"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算法流程</a:t>
            </a:r>
            <a:endParaRPr lang="zh-CN" altLang="en-US" dirty="0"/>
          </a:p>
        </p:txBody>
      </p:sp>
      <p:sp>
        <p:nvSpPr>
          <p:cNvPr id="3" name="内容占位符 2"/>
          <p:cNvSpPr>
            <a:spLocks noGrp="1"/>
          </p:cNvSpPr>
          <p:nvPr>
            <p:ph idx="1"/>
          </p:nvPr>
        </p:nvSpPr>
        <p:spPr>
          <a:xfrm>
            <a:off x="1176263" y="1382976"/>
            <a:ext cx="10178322" cy="4258182"/>
          </a:xfrm>
        </p:spPr>
        <p:txBody>
          <a:bodyPr>
            <a:noAutofit/>
          </a:bodyPr>
          <a:lstStyle/>
          <a:p>
            <a:r>
              <a:rPr lang="en-US" altLang="zh-CN" sz="2200" dirty="0"/>
              <a:t>While</a:t>
            </a:r>
            <a:r>
              <a:rPr lang="zh-CN" altLang="en-US" sz="2200" dirty="0"/>
              <a:t>循环：</a:t>
            </a:r>
            <a:endParaRPr lang="en-US" altLang="zh-CN" sz="2200" dirty="0"/>
          </a:p>
          <a:p>
            <a:r>
              <a:rPr lang="zh-CN" altLang="en-US" sz="2200" dirty="0"/>
              <a:t>人类输入语句</a:t>
            </a:r>
            <a:endParaRPr lang="en-US" altLang="zh-CN" sz="2200" dirty="0"/>
          </a:p>
          <a:p>
            <a:r>
              <a:rPr lang="zh-CN" altLang="en-US" sz="2200" dirty="0"/>
              <a:t>如果是</a:t>
            </a:r>
            <a:r>
              <a:rPr lang="zh-CN" altLang="en-US" sz="2200" b="1" dirty="0"/>
              <a:t>套路式的语句</a:t>
            </a:r>
            <a:r>
              <a:rPr lang="zh-CN" altLang="en-US" sz="2200" dirty="0"/>
              <a:t>（例如“你好”），直接使用语料库的回复</a:t>
            </a:r>
            <a:endParaRPr lang="en-US" altLang="zh-CN" sz="2200" dirty="0"/>
          </a:p>
          <a:p>
            <a:r>
              <a:rPr lang="zh-CN" altLang="en-US" sz="2200" dirty="0"/>
              <a:t>如果是</a:t>
            </a:r>
            <a:r>
              <a:rPr lang="zh-CN" altLang="en-US" sz="2200" b="1" dirty="0"/>
              <a:t>模板式的语句</a:t>
            </a:r>
            <a:r>
              <a:rPr lang="zh-CN" altLang="en-US" sz="2200" dirty="0"/>
              <a:t>（例如“你知道</a:t>
            </a:r>
            <a:r>
              <a:rPr lang="en-US" altLang="zh-CN" sz="2200" dirty="0"/>
              <a:t>XX</a:t>
            </a:r>
            <a:r>
              <a:rPr lang="zh-CN" altLang="en-US" sz="2200" dirty="0"/>
              <a:t>吗”），通过匹配调用知识图谱的知识回复</a:t>
            </a:r>
            <a:endParaRPr lang="en-US" altLang="zh-CN" sz="2200" dirty="0"/>
          </a:p>
          <a:p>
            <a:r>
              <a:rPr lang="zh-CN" altLang="en-US" sz="2200" dirty="0"/>
              <a:t>如果是</a:t>
            </a:r>
            <a:r>
              <a:rPr lang="zh-CN" altLang="en-US" sz="2200" b="1" dirty="0"/>
              <a:t>一般的语句</a:t>
            </a:r>
            <a:r>
              <a:rPr lang="zh-CN" altLang="en-US" sz="2200" dirty="0"/>
              <a:t>（例如“今天我收到了一个红包”），通过调用情感分析获得情感倾向做出针对性的回复（如“那你一定很开心吧，”），同时进行关键词提取并调用词向量，得知背景知识（如“红包”与“钱”的联系密切、“钱”与“购买”的联系密切），再进一步推理得到理解意义上的回复（“你可以买喜欢的东西了”）</a:t>
            </a:r>
            <a:endParaRPr lang="en-US" altLang="zh-CN" sz="2200" dirty="0"/>
          </a:p>
          <a:p>
            <a:r>
              <a:rPr lang="zh-CN" altLang="en-US" sz="2200" dirty="0"/>
              <a:t>如果以上三者都无法得到适当的回复，则回复“不好意思，我有点不明白，换个话题吧”</a:t>
            </a:r>
            <a:endParaRPr lang="en-US" altLang="zh-CN" sz="2200" dirty="0"/>
          </a:p>
          <a:p>
            <a:r>
              <a:rPr lang="zh-CN" altLang="en-US" sz="2200" dirty="0"/>
              <a:t>进入下一次循环，输入“再见”时跳出</a:t>
            </a:r>
            <a:r>
              <a:rPr lang="en-US" altLang="zh-CN" sz="2200" dirty="0"/>
              <a:t>while</a:t>
            </a:r>
            <a:r>
              <a:rPr lang="zh-CN" altLang="en-US" sz="2200" dirty="0"/>
              <a:t>循环</a:t>
            </a:r>
            <a:endParaRPr lang="zh-CN" alt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算法流程</a:t>
            </a:r>
            <a:endParaRPr lang="zh-CN" altLang="en-US" dirty="0"/>
          </a:p>
        </p:txBody>
      </p:sp>
      <p:sp>
        <p:nvSpPr>
          <p:cNvPr id="3" name="内容占位符 2"/>
          <p:cNvSpPr>
            <a:spLocks noGrp="1"/>
          </p:cNvSpPr>
          <p:nvPr>
            <p:ph idx="1"/>
          </p:nvPr>
        </p:nvSpPr>
        <p:spPr>
          <a:xfrm>
            <a:off x="1251678" y="1414021"/>
            <a:ext cx="10178322" cy="4258182"/>
          </a:xfrm>
        </p:spPr>
        <p:txBody>
          <a:bodyPr/>
          <a:lstStyle/>
          <a:p>
            <a:r>
              <a:rPr lang="zh-CN" altLang="en-US" sz="3200" dirty="0"/>
              <a:t>套路式对话</a:t>
            </a:r>
            <a:endParaRPr lang="en-US" altLang="zh-CN" sz="3200" dirty="0"/>
          </a:p>
          <a:p>
            <a:r>
              <a:rPr lang="zh-CN" altLang="en-US" dirty="0"/>
              <a:t>直接使用</a:t>
            </a:r>
            <a:r>
              <a:rPr lang="en-US" altLang="zh-CN" dirty="0"/>
              <a:t>IF…THEN…</a:t>
            </a:r>
            <a:endParaRPr lang="en-US" altLang="zh-CN" dirty="0"/>
          </a:p>
          <a:p>
            <a:endParaRPr lang="en-US" altLang="zh-CN" dirty="0"/>
          </a:p>
          <a:p>
            <a:endParaRPr lang="en-US" altLang="zh-CN" dirty="0"/>
          </a:p>
          <a:p>
            <a:endParaRPr lang="zh-CN" altLang="en-US" dirty="0"/>
          </a:p>
        </p:txBody>
      </p:sp>
      <p:pic>
        <p:nvPicPr>
          <p:cNvPr id="4" name="图片 3"/>
          <p:cNvPicPr>
            <a:picLocks noChangeAspect="1"/>
          </p:cNvPicPr>
          <p:nvPr/>
        </p:nvPicPr>
        <p:blipFill rotWithShape="1">
          <a:blip r:embed="rId1"/>
          <a:srcRect l="7964" t="20619" r="46881" b="29073"/>
          <a:stretch>
            <a:fillRect/>
          </a:stretch>
        </p:blipFill>
        <p:spPr>
          <a:xfrm>
            <a:off x="1036949" y="2762053"/>
            <a:ext cx="5505254" cy="3450211"/>
          </a:xfrm>
          <a:prstGeom prst="rect">
            <a:avLst/>
          </a:prstGeom>
        </p:spPr>
      </p:pic>
      <p:pic>
        <p:nvPicPr>
          <p:cNvPr id="5" name="图片 4"/>
          <p:cNvPicPr>
            <a:picLocks noChangeAspect="1"/>
          </p:cNvPicPr>
          <p:nvPr/>
        </p:nvPicPr>
        <p:blipFill rotWithShape="1">
          <a:blip r:embed="rId2"/>
          <a:srcRect l="26366" t="27333" r="54536" b="46392"/>
          <a:stretch>
            <a:fillRect/>
          </a:stretch>
        </p:blipFill>
        <p:spPr>
          <a:xfrm>
            <a:off x="7025595" y="2796465"/>
            <a:ext cx="4619134" cy="35746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算法流程</a:t>
            </a:r>
            <a:endParaRPr lang="zh-CN" altLang="en-US" dirty="0"/>
          </a:p>
        </p:txBody>
      </p:sp>
      <p:sp>
        <p:nvSpPr>
          <p:cNvPr id="3" name="内容占位符 2"/>
          <p:cNvSpPr>
            <a:spLocks noGrp="1"/>
          </p:cNvSpPr>
          <p:nvPr>
            <p:ph idx="1"/>
          </p:nvPr>
        </p:nvSpPr>
        <p:spPr>
          <a:xfrm>
            <a:off x="1251678" y="1414021"/>
            <a:ext cx="10178322" cy="4258182"/>
          </a:xfrm>
        </p:spPr>
        <p:txBody>
          <a:bodyPr/>
          <a:lstStyle/>
          <a:p>
            <a:r>
              <a:rPr lang="zh-CN" altLang="en-US" sz="3200" dirty="0"/>
              <a:t>模板式对话</a:t>
            </a:r>
            <a:endParaRPr lang="en-US" altLang="zh-CN" sz="3200" dirty="0"/>
          </a:p>
          <a:p>
            <a:r>
              <a:rPr lang="zh-CN" altLang="en-US" dirty="0"/>
              <a:t>调用思知（</a:t>
            </a:r>
            <a:r>
              <a:rPr lang="en-US" altLang="zh-CN" dirty="0" err="1"/>
              <a:t>Ownthink</a:t>
            </a:r>
            <a:r>
              <a:rPr lang="zh-CN" altLang="en-US" dirty="0"/>
              <a:t>）知识图谱的知识回复</a:t>
            </a:r>
            <a:endParaRPr lang="en-US" altLang="zh-CN" dirty="0"/>
          </a:p>
          <a:p>
            <a:endParaRPr lang="en-US" altLang="zh-CN" dirty="0"/>
          </a:p>
          <a:p>
            <a:endParaRPr lang="zh-CN" altLang="en-US" dirty="0"/>
          </a:p>
        </p:txBody>
      </p:sp>
      <p:pic>
        <p:nvPicPr>
          <p:cNvPr id="6" name="图片 5"/>
          <p:cNvPicPr>
            <a:picLocks noChangeAspect="1"/>
          </p:cNvPicPr>
          <p:nvPr/>
        </p:nvPicPr>
        <p:blipFill rotWithShape="1">
          <a:blip r:embed="rId1"/>
          <a:srcRect l="9124" t="17290" r="32500" b="28523"/>
          <a:stretch>
            <a:fillRect/>
          </a:stretch>
        </p:blipFill>
        <p:spPr>
          <a:xfrm>
            <a:off x="1093509" y="2759473"/>
            <a:ext cx="7117237" cy="3716142"/>
          </a:xfrm>
          <a:prstGeom prst="rect">
            <a:avLst/>
          </a:prstGeom>
        </p:spPr>
      </p:pic>
      <p:pic>
        <p:nvPicPr>
          <p:cNvPr id="7" name="图片 6"/>
          <p:cNvPicPr>
            <a:picLocks noChangeAspect="1"/>
          </p:cNvPicPr>
          <p:nvPr/>
        </p:nvPicPr>
        <p:blipFill rotWithShape="1">
          <a:blip r:embed="rId2"/>
          <a:srcRect l="12758" t="32578" r="60644" b="51752"/>
          <a:stretch>
            <a:fillRect/>
          </a:stretch>
        </p:blipFill>
        <p:spPr>
          <a:xfrm>
            <a:off x="5196256" y="2510195"/>
            <a:ext cx="6233744" cy="20658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核心算法：</a:t>
            </a:r>
            <a:r>
              <a:rPr lang="zh-CN" altLang="en-US" sz="5400" dirty="0"/>
              <a:t>一般对话</a:t>
            </a:r>
            <a:br>
              <a:rPr lang="en-US" altLang="zh-CN" sz="5400" dirty="0"/>
            </a:br>
            <a:endParaRPr kumimoji="1" lang="zh-CN" altLang="en-US" dirty="0"/>
          </a:p>
        </p:txBody>
      </p:sp>
      <p:sp>
        <p:nvSpPr>
          <p:cNvPr id="7" name="内容占位符 6"/>
          <p:cNvSpPr>
            <a:spLocks noGrp="1"/>
          </p:cNvSpPr>
          <p:nvPr>
            <p:ph idx="1"/>
          </p:nvPr>
        </p:nvSpPr>
        <p:spPr>
          <a:xfrm>
            <a:off x="1251678" y="1632204"/>
            <a:ext cx="10178322" cy="3593591"/>
          </a:xfrm>
        </p:spPr>
        <p:txBody>
          <a:bodyPr>
            <a:normAutofit/>
          </a:bodyPr>
          <a:lstStyle/>
          <a:p>
            <a:r>
              <a:rPr lang="zh-CN" altLang="en-US" sz="2800" dirty="0"/>
              <a:t>首先调用情感分析的工具</a:t>
            </a:r>
            <a:endParaRPr lang="en-US" altLang="zh-CN" sz="2800" dirty="0"/>
          </a:p>
          <a:p>
            <a:r>
              <a:rPr lang="zh-CN" altLang="en-US" sz="2800" dirty="0"/>
              <a:t>一开始我打算用</a:t>
            </a:r>
            <a:r>
              <a:rPr lang="en-US" altLang="zh-CN" sz="2800" dirty="0"/>
              <a:t>API</a:t>
            </a:r>
            <a:r>
              <a:rPr lang="zh-CN" altLang="en-US" sz="2800" dirty="0"/>
              <a:t>，但是发现可以直接用</a:t>
            </a:r>
            <a:r>
              <a:rPr lang="en-US" altLang="zh-CN" sz="2800" dirty="0"/>
              <a:t>Python</a:t>
            </a:r>
            <a:r>
              <a:rPr lang="zh-CN" altLang="en-US" sz="2800" dirty="0"/>
              <a:t>中的</a:t>
            </a:r>
            <a:r>
              <a:rPr lang="en-US" altLang="zh-CN" sz="2800" dirty="0" err="1"/>
              <a:t>snownlp</a:t>
            </a:r>
            <a:r>
              <a:rPr lang="zh-CN" altLang="en-US" sz="2800" dirty="0"/>
              <a:t>包，效果也不错</a:t>
            </a:r>
            <a:endParaRPr lang="en-US" altLang="zh-CN" sz="2800" dirty="0"/>
          </a:p>
          <a:p>
            <a:endParaRPr lang="zh-CN" altLang="en-US" sz="2800" dirty="0"/>
          </a:p>
        </p:txBody>
      </p:sp>
      <p:pic>
        <p:nvPicPr>
          <p:cNvPr id="3" name="图片 2"/>
          <p:cNvPicPr>
            <a:picLocks noChangeAspect="1"/>
          </p:cNvPicPr>
          <p:nvPr/>
        </p:nvPicPr>
        <p:blipFill rotWithShape="1">
          <a:blip r:embed="rId1"/>
          <a:srcRect l="8273" t="23800" r="45567" b="55601"/>
          <a:stretch>
            <a:fillRect/>
          </a:stretch>
        </p:blipFill>
        <p:spPr>
          <a:xfrm>
            <a:off x="2160655" y="3695307"/>
            <a:ext cx="7870690" cy="19756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核心算法：</a:t>
            </a:r>
            <a:r>
              <a:rPr lang="zh-CN" altLang="en-US" sz="5400" dirty="0"/>
              <a:t>一般对话</a:t>
            </a:r>
            <a:br>
              <a:rPr lang="en-US" altLang="zh-CN" sz="5400" dirty="0"/>
            </a:br>
            <a:endParaRPr kumimoji="1" lang="zh-CN" altLang="en-US" dirty="0"/>
          </a:p>
        </p:txBody>
      </p:sp>
      <p:sp>
        <p:nvSpPr>
          <p:cNvPr id="7" name="内容占位符 6"/>
          <p:cNvSpPr>
            <a:spLocks noGrp="1"/>
          </p:cNvSpPr>
          <p:nvPr>
            <p:ph idx="1"/>
          </p:nvPr>
        </p:nvSpPr>
        <p:spPr>
          <a:xfrm>
            <a:off x="1251678" y="1632204"/>
            <a:ext cx="10178322" cy="4843411"/>
          </a:xfrm>
        </p:spPr>
        <p:txBody>
          <a:bodyPr>
            <a:normAutofit/>
          </a:bodyPr>
          <a:lstStyle/>
          <a:p>
            <a:r>
              <a:rPr lang="zh-CN" altLang="en-US" sz="2800" dirty="0"/>
              <a:t>然后提取关键词，采用</a:t>
            </a:r>
            <a:r>
              <a:rPr lang="en-US" altLang="zh-CN" sz="2800" dirty="0" err="1"/>
              <a:t>jieba</a:t>
            </a:r>
            <a:r>
              <a:rPr lang="zh-CN" altLang="en-US" sz="2800" dirty="0"/>
              <a:t>包中的</a:t>
            </a:r>
            <a:r>
              <a:rPr lang="en-US" altLang="zh-CN" sz="2800" dirty="0" err="1"/>
              <a:t>textrank</a:t>
            </a:r>
            <a:endParaRPr lang="en-US" altLang="zh-CN" sz="2800" dirty="0"/>
          </a:p>
          <a:p>
            <a:r>
              <a:rPr lang="en-US" altLang="zh-CN" sz="1800" dirty="0" err="1">
                <a:solidFill>
                  <a:srgbClr val="000000"/>
                </a:solidFill>
                <a:latin typeface="新宋体" panose="02010609030101010101" pitchFamily="49" charset="-122"/>
                <a:ea typeface="新宋体" panose="02010609030101010101" pitchFamily="49" charset="-122"/>
              </a:rPr>
              <a:t>keywords_textrank</a:t>
            </a:r>
            <a:r>
              <a:rPr lang="en-US" altLang="zh-CN" sz="1800" dirty="0">
                <a:solidFill>
                  <a:srgbClr val="000000"/>
                </a:solidFill>
                <a:latin typeface="新宋体" panose="02010609030101010101" pitchFamily="49" charset="-122"/>
                <a:ea typeface="新宋体" panose="02010609030101010101" pitchFamily="49" charset="-122"/>
              </a:rPr>
              <a:t> = </a:t>
            </a:r>
            <a:r>
              <a:rPr lang="en-US" altLang="zh-CN" sz="1800" dirty="0" err="1">
                <a:solidFill>
                  <a:srgbClr val="000000"/>
                </a:solidFill>
                <a:latin typeface="新宋体" panose="02010609030101010101" pitchFamily="49" charset="-122"/>
                <a:ea typeface="新宋体" panose="02010609030101010101" pitchFamily="49" charset="-122"/>
              </a:rPr>
              <a:t>jieba.analyse.textrank</a:t>
            </a:r>
            <a:r>
              <a:rPr lang="en-US" altLang="zh-CN" sz="1800" dirty="0">
                <a:solidFill>
                  <a:srgbClr val="000000"/>
                </a:solidFill>
                <a:latin typeface="新宋体" panose="02010609030101010101" pitchFamily="49" charset="-122"/>
                <a:ea typeface="新宋体" panose="02010609030101010101" pitchFamily="49" charset="-122"/>
              </a:rPr>
              <a:t>(message)</a:t>
            </a:r>
            <a:endParaRPr lang="en-US" altLang="zh-CN" sz="1800" dirty="0">
              <a:solidFill>
                <a:srgbClr val="000000"/>
              </a:solidFill>
              <a:latin typeface="新宋体" panose="02010609030101010101" pitchFamily="49" charset="-122"/>
              <a:ea typeface="新宋体" panose="02010609030101010101" pitchFamily="49" charset="-122"/>
            </a:endParaRPr>
          </a:p>
          <a:p>
            <a:r>
              <a:rPr lang="zh-CN" altLang="en-US" sz="2800" dirty="0"/>
              <a:t>再调用知识图谱寻找相关关键词</a:t>
            </a:r>
            <a:endParaRPr lang="en-US" altLang="zh-CN" sz="2800" dirty="0"/>
          </a:p>
          <a:p>
            <a:r>
              <a:rPr lang="pt-BR" altLang="zh-CN" sz="1800" dirty="0">
                <a:solidFill>
                  <a:srgbClr val="000000"/>
                </a:solidFill>
                <a:latin typeface="新宋体" panose="02010609030101010101" pitchFamily="49" charset="-122"/>
                <a:ea typeface="新宋体" panose="02010609030101010101" pitchFamily="49" charset="-122"/>
              </a:rPr>
              <a:t>r = </a:t>
            </a:r>
            <a:r>
              <a:rPr lang="pt-BR" altLang="zh-CN" sz="1800" dirty="0">
                <a:solidFill>
                  <a:srgbClr val="6F008A"/>
                </a:solidFill>
                <a:latin typeface="新宋体" panose="02010609030101010101" pitchFamily="49" charset="-122"/>
                <a:ea typeface="新宋体" panose="02010609030101010101" pitchFamily="49" charset="-122"/>
              </a:rPr>
              <a:t>requests</a:t>
            </a:r>
            <a:r>
              <a:rPr lang="pt-BR" altLang="zh-CN" sz="1800" dirty="0">
                <a:solidFill>
                  <a:srgbClr val="000000"/>
                </a:solidFill>
                <a:latin typeface="新宋体" panose="02010609030101010101" pitchFamily="49" charset="-122"/>
                <a:ea typeface="新宋体" panose="02010609030101010101" pitchFamily="49" charset="-122"/>
              </a:rPr>
              <a:t>.get(</a:t>
            </a:r>
            <a:r>
              <a:rPr lang="pt-BR" altLang="zh-CN" sz="1800" dirty="0">
                <a:solidFill>
                  <a:srgbClr val="A31515"/>
                </a:solidFill>
                <a:latin typeface="新宋体" panose="02010609030101010101" pitchFamily="49" charset="-122"/>
                <a:ea typeface="新宋体" panose="02010609030101010101" pitchFamily="49" charset="-122"/>
              </a:rPr>
              <a:t>"https://api.ownthink.com/kg/knowledge"</a:t>
            </a:r>
            <a:r>
              <a:rPr lang="pt-BR" altLang="zh-CN" sz="1800" dirty="0">
                <a:solidFill>
                  <a:srgbClr val="000000"/>
                </a:solidFill>
                <a:latin typeface="新宋体" panose="02010609030101010101" pitchFamily="49" charset="-122"/>
                <a:ea typeface="新宋体" panose="02010609030101010101" pitchFamily="49" charset="-122"/>
              </a:rPr>
              <a:t>,params=enty)</a:t>
            </a:r>
            <a:r>
              <a:rPr lang="pt-BR" altLang="zh-CN" sz="1800" dirty="0">
                <a:solidFill>
                  <a:srgbClr val="008000"/>
                </a:solidFill>
                <a:latin typeface="新宋体" panose="02010609030101010101" pitchFamily="49" charset="-122"/>
                <a:ea typeface="新宋体" panose="02010609030101010101" pitchFamily="49" charset="-122"/>
              </a:rPr>
              <a:t>#</a:t>
            </a:r>
            <a:r>
              <a:rPr lang="zh-CN" altLang="pt-BR" sz="1800" dirty="0">
                <a:solidFill>
                  <a:srgbClr val="008000"/>
                </a:solidFill>
                <a:latin typeface="新宋体" panose="02010609030101010101" pitchFamily="49" charset="-122"/>
                <a:ea typeface="新宋体" panose="02010609030101010101" pitchFamily="49" charset="-122"/>
              </a:rPr>
              <a:t>调用知识图谱</a:t>
            </a:r>
            <a:endParaRPr lang="pt-BR" altLang="zh-CN" sz="1800" dirty="0">
              <a:solidFill>
                <a:srgbClr val="000000"/>
              </a:solidFill>
              <a:latin typeface="新宋体" panose="02010609030101010101" pitchFamily="49" charset="-122"/>
              <a:ea typeface="新宋体" panose="02010609030101010101" pitchFamily="49" charset="-122"/>
            </a:endParaRPr>
          </a:p>
          <a:p>
            <a:r>
              <a:rPr lang="en-US" altLang="zh-CN" sz="1800" dirty="0">
                <a:solidFill>
                  <a:srgbClr val="000000"/>
                </a:solidFill>
                <a:latin typeface="新宋体" panose="02010609030101010101" pitchFamily="49" charset="-122"/>
                <a:ea typeface="新宋体" panose="02010609030101010101" pitchFamily="49" charset="-122"/>
              </a:rPr>
              <a:t>keywords2_textrank = </a:t>
            </a:r>
            <a:r>
              <a:rPr lang="en-US" altLang="zh-CN" sz="1800" dirty="0" err="1">
                <a:solidFill>
                  <a:srgbClr val="000000"/>
                </a:solidFill>
                <a:latin typeface="新宋体" panose="02010609030101010101" pitchFamily="49" charset="-122"/>
                <a:ea typeface="新宋体" panose="02010609030101010101" pitchFamily="49" charset="-122"/>
              </a:rPr>
              <a:t>jieba.analyse.textrank</a:t>
            </a:r>
            <a:r>
              <a:rPr lang="en-US" altLang="zh-CN" sz="1800" dirty="0">
                <a:solidFill>
                  <a:srgbClr val="000000"/>
                </a:solidFill>
                <a:latin typeface="新宋体" panose="02010609030101010101" pitchFamily="49" charset="-122"/>
                <a:ea typeface="新宋体" panose="02010609030101010101" pitchFamily="49" charset="-122"/>
              </a:rPr>
              <a:t>(</a:t>
            </a:r>
            <a:r>
              <a:rPr lang="en-US" altLang="zh-CN" sz="1800" dirty="0" err="1">
                <a:solidFill>
                  <a:srgbClr val="000000"/>
                </a:solidFill>
                <a:latin typeface="新宋体" panose="02010609030101010101" pitchFamily="49" charset="-122"/>
                <a:ea typeface="新宋体" panose="02010609030101010101" pitchFamily="49" charset="-122"/>
              </a:rPr>
              <a:t>r.text</a:t>
            </a:r>
            <a:r>
              <a:rPr lang="en-US" altLang="zh-CN" sz="1800" dirty="0">
                <a:solidFill>
                  <a:srgbClr val="000000"/>
                </a:solidFill>
                <a:latin typeface="新宋体" panose="02010609030101010101" pitchFamily="49" charset="-122"/>
                <a:ea typeface="新宋体" panose="02010609030101010101" pitchFamily="49" charset="-122"/>
              </a:rPr>
              <a:t>)</a:t>
            </a:r>
            <a:r>
              <a:rPr lang="en-US" altLang="zh-CN" sz="1800" dirty="0">
                <a:solidFill>
                  <a:srgbClr val="008000"/>
                </a:solidFill>
                <a:latin typeface="新宋体" panose="02010609030101010101" pitchFamily="49" charset="-122"/>
                <a:ea typeface="新宋体" panose="02010609030101010101" pitchFamily="49" charset="-122"/>
              </a:rPr>
              <a:t>#</a:t>
            </a:r>
            <a:r>
              <a:rPr lang="zh-CN" altLang="en-US" sz="1800" dirty="0">
                <a:solidFill>
                  <a:srgbClr val="008000"/>
                </a:solidFill>
                <a:latin typeface="新宋体" panose="02010609030101010101" pitchFamily="49" charset="-122"/>
                <a:ea typeface="新宋体" panose="02010609030101010101" pitchFamily="49" charset="-122"/>
              </a:rPr>
              <a:t>再次提取关键词</a:t>
            </a:r>
            <a:endParaRPr lang="en-US" altLang="zh-CN" sz="2800" dirty="0"/>
          </a:p>
          <a:p>
            <a:r>
              <a:rPr lang="zh-CN" altLang="en-US" sz="2800" dirty="0"/>
              <a:t>最后将关键词用腾讯的词向量寻找接近的词，完成回复</a:t>
            </a:r>
            <a:endParaRPr lang="en-US" altLang="zh-CN" sz="2800" dirty="0"/>
          </a:p>
          <a:p>
            <a:r>
              <a:rPr lang="pt-BR" altLang="zh-CN" sz="1800" dirty="0">
                <a:solidFill>
                  <a:srgbClr val="000000"/>
                </a:solidFill>
                <a:latin typeface="新宋体" panose="02010609030101010101" pitchFamily="49" charset="-122"/>
                <a:ea typeface="新宋体" panose="02010609030101010101" pitchFamily="49" charset="-122"/>
              </a:rPr>
              <a:t>r = </a:t>
            </a:r>
            <a:r>
              <a:rPr lang="pt-BR" altLang="zh-CN" sz="1800" dirty="0">
                <a:solidFill>
                  <a:srgbClr val="6F008A"/>
                </a:solidFill>
                <a:latin typeface="新宋体" panose="02010609030101010101" pitchFamily="49" charset="-122"/>
                <a:ea typeface="新宋体" panose="02010609030101010101" pitchFamily="49" charset="-122"/>
              </a:rPr>
              <a:t>requests</a:t>
            </a:r>
            <a:r>
              <a:rPr lang="pt-BR" altLang="zh-CN" sz="1800" dirty="0">
                <a:solidFill>
                  <a:srgbClr val="000000"/>
                </a:solidFill>
                <a:latin typeface="新宋体" panose="02010609030101010101" pitchFamily="49" charset="-122"/>
                <a:ea typeface="新宋体" panose="02010609030101010101" pitchFamily="49" charset="-122"/>
              </a:rPr>
              <a:t>.get(</a:t>
            </a:r>
            <a:r>
              <a:rPr lang="pt-BR" altLang="zh-CN" sz="1800" dirty="0">
                <a:solidFill>
                  <a:srgbClr val="A31515"/>
                </a:solidFill>
                <a:latin typeface="新宋体" panose="02010609030101010101" pitchFamily="49" charset="-122"/>
                <a:ea typeface="新宋体" panose="02010609030101010101" pitchFamily="49" charset="-122"/>
              </a:rPr>
              <a:t>"http://ip:8888/top_sim"</a:t>
            </a:r>
            <a:r>
              <a:rPr lang="pt-BR" altLang="zh-CN" sz="1800" dirty="0">
                <a:solidFill>
                  <a:srgbClr val="000000"/>
                </a:solidFill>
                <a:latin typeface="新宋体" panose="02010609030101010101" pitchFamily="49" charset="-122"/>
                <a:ea typeface="新宋体" panose="02010609030101010101" pitchFamily="49" charset="-122"/>
              </a:rPr>
              <a:t>,params=enty)</a:t>
            </a:r>
            <a:r>
              <a:rPr lang="pt-BR" altLang="zh-CN" sz="1800" dirty="0">
                <a:solidFill>
                  <a:srgbClr val="008000"/>
                </a:solidFill>
                <a:latin typeface="新宋体" panose="02010609030101010101" pitchFamily="49" charset="-122"/>
                <a:ea typeface="新宋体" panose="02010609030101010101" pitchFamily="49" charset="-122"/>
              </a:rPr>
              <a:t>#</a:t>
            </a:r>
            <a:r>
              <a:rPr lang="zh-CN" altLang="pt-BR" sz="1800" dirty="0">
                <a:solidFill>
                  <a:srgbClr val="008000"/>
                </a:solidFill>
                <a:latin typeface="新宋体" panose="02010609030101010101" pitchFamily="49" charset="-122"/>
                <a:ea typeface="新宋体" panose="02010609030101010101" pitchFamily="49" charset="-122"/>
              </a:rPr>
              <a:t>调用词向量</a:t>
            </a:r>
            <a:endParaRPr lang="pt-BR" altLang="zh-CN" sz="1800" dirty="0">
              <a:solidFill>
                <a:srgbClr val="000000"/>
              </a:solidFill>
              <a:latin typeface="新宋体" panose="02010609030101010101" pitchFamily="49" charset="-122"/>
              <a:ea typeface="新宋体" panose="02010609030101010101" pitchFamily="49" charset="-122"/>
            </a:endParaRPr>
          </a:p>
          <a:p>
            <a:r>
              <a:rPr lang="en-US" altLang="zh-CN" sz="1800" dirty="0">
                <a:solidFill>
                  <a:srgbClr val="000000"/>
                </a:solidFill>
                <a:latin typeface="新宋体" panose="02010609030101010101" pitchFamily="49" charset="-122"/>
                <a:ea typeface="新宋体" panose="02010609030101010101" pitchFamily="49" charset="-122"/>
              </a:rPr>
              <a:t>print(</a:t>
            </a:r>
            <a:r>
              <a:rPr lang="en-US" altLang="zh-CN" sz="1800" dirty="0">
                <a:solidFill>
                  <a:srgbClr val="A31515"/>
                </a:solidFill>
                <a:latin typeface="新宋体" panose="02010609030101010101" pitchFamily="49" charset="-122"/>
                <a:ea typeface="新宋体" panose="02010609030101010101" pitchFamily="49" charset="-122"/>
              </a:rPr>
              <a:t>"</a:t>
            </a:r>
            <a:r>
              <a:rPr lang="zh-CN" altLang="en-US" sz="1800" dirty="0">
                <a:solidFill>
                  <a:srgbClr val="A31515"/>
                </a:solidFill>
                <a:latin typeface="新宋体" panose="02010609030101010101" pitchFamily="49" charset="-122"/>
                <a:ea typeface="新宋体" panose="02010609030101010101" pitchFamily="49" charset="-122"/>
              </a:rPr>
              <a:t>我喜欢</a:t>
            </a:r>
            <a:r>
              <a:rPr lang="en-US" altLang="zh-CN" sz="1800" dirty="0">
                <a:solidFill>
                  <a:srgbClr val="A31515"/>
                </a:solidFill>
                <a:latin typeface="新宋体" panose="02010609030101010101" pitchFamily="49" charset="-122"/>
                <a:ea typeface="新宋体" panose="02010609030101010101" pitchFamily="49" charset="-122"/>
              </a:rPr>
              <a:t>"</a:t>
            </a:r>
            <a:r>
              <a:rPr lang="en-US" altLang="zh-CN" sz="1800" dirty="0">
                <a:solidFill>
                  <a:srgbClr val="000000"/>
                </a:solidFill>
                <a:latin typeface="新宋体" panose="02010609030101010101" pitchFamily="49" charset="-122"/>
                <a:ea typeface="新宋体" panose="02010609030101010101" pitchFamily="49" charset="-122"/>
              </a:rPr>
              <a:t>+r[</a:t>
            </a:r>
            <a:r>
              <a:rPr lang="en-US" altLang="zh-CN" sz="1800" dirty="0">
                <a:solidFill>
                  <a:srgbClr val="A31515"/>
                </a:solidFill>
                <a:latin typeface="新宋体" panose="02010609030101010101" pitchFamily="49" charset="-122"/>
                <a:ea typeface="新宋体" panose="02010609030101010101" pitchFamily="49" charset="-122"/>
              </a:rPr>
              <a:t>'</a:t>
            </a:r>
            <a:r>
              <a:rPr lang="en-US" altLang="zh-CN" sz="1800" dirty="0" err="1">
                <a:solidFill>
                  <a:srgbClr val="A31515"/>
                </a:solidFill>
                <a:latin typeface="新宋体" panose="02010609030101010101" pitchFamily="49" charset="-122"/>
                <a:ea typeface="新宋体" panose="02010609030101010101" pitchFamily="49" charset="-122"/>
              </a:rPr>
              <a:t>top_similar_words</a:t>
            </a:r>
            <a:r>
              <a:rPr lang="en-US" altLang="zh-CN" sz="1800" dirty="0">
                <a:solidFill>
                  <a:srgbClr val="A31515"/>
                </a:solidFill>
                <a:latin typeface="新宋体" panose="02010609030101010101" pitchFamily="49" charset="-122"/>
                <a:ea typeface="新宋体" panose="02010609030101010101" pitchFamily="49" charset="-122"/>
              </a:rPr>
              <a:t>'</a:t>
            </a:r>
            <a:r>
              <a:rPr lang="en-US" altLang="zh-CN" sz="1800" dirty="0">
                <a:solidFill>
                  <a:srgbClr val="000000"/>
                </a:solidFill>
                <a:latin typeface="新宋体" panose="02010609030101010101" pitchFamily="49" charset="-122"/>
                <a:ea typeface="新宋体" panose="02010609030101010101" pitchFamily="49" charset="-122"/>
              </a:rPr>
              <a:t>][0][0])</a:t>
            </a:r>
            <a:endParaRPr lang="en-US" altLang="zh-CN" sz="2800" dirty="0"/>
          </a:p>
          <a:p>
            <a:endParaRPr lang="zh-CN" altLang="en-US" sz="2800" dirty="0"/>
          </a:p>
        </p:txBody>
      </p:sp>
      <p:pic>
        <p:nvPicPr>
          <p:cNvPr id="3" name="图片 2"/>
          <p:cNvPicPr>
            <a:picLocks noChangeAspect="1"/>
          </p:cNvPicPr>
          <p:nvPr/>
        </p:nvPicPr>
        <p:blipFill rotWithShape="1">
          <a:blip r:embed="rId1"/>
          <a:srcRect l="12061" t="23800" r="62423" b="71546"/>
          <a:stretch>
            <a:fillRect/>
          </a:stretch>
        </p:blipFill>
        <p:spPr>
          <a:xfrm>
            <a:off x="1706251" y="5420105"/>
            <a:ext cx="9002599" cy="9235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总结</a:t>
            </a:r>
            <a:endParaRPr kumimoji="1" lang="zh-CN" altLang="en-US" dirty="0"/>
          </a:p>
        </p:txBody>
      </p:sp>
      <p:sp>
        <p:nvSpPr>
          <p:cNvPr id="8" name="内容占位符 7"/>
          <p:cNvSpPr>
            <a:spLocks noGrp="1"/>
          </p:cNvSpPr>
          <p:nvPr>
            <p:ph idx="1"/>
          </p:nvPr>
        </p:nvSpPr>
        <p:spPr/>
        <p:txBody>
          <a:bodyPr>
            <a:normAutofit/>
          </a:bodyPr>
          <a:lstStyle/>
          <a:p>
            <a:r>
              <a:rPr lang="zh-CN" altLang="en-US" sz="2800" dirty="0"/>
              <a:t>本项目中，我采用符号主义与连接主义结合的基本思路，采用了一种较新颖的方式做出了一个能够在一定程度上表现出理解人类想法的聊天机器人。</a:t>
            </a:r>
            <a:endParaRPr lang="en-US" altLang="zh-CN" sz="2800" dirty="0"/>
          </a:p>
          <a:p>
            <a:r>
              <a:rPr lang="zh-CN" altLang="en-US" sz="2800" dirty="0"/>
              <a:t>我对</a:t>
            </a:r>
            <a:r>
              <a:rPr lang="en-US" altLang="zh-CN" sz="2800" dirty="0"/>
              <a:t>NLP</a:t>
            </a:r>
            <a:r>
              <a:rPr lang="zh-CN" altLang="en-US" sz="2800" dirty="0"/>
              <a:t>有了更深的理解，</a:t>
            </a:r>
            <a:r>
              <a:rPr lang="en-US" altLang="zh-CN" sz="2800" dirty="0"/>
              <a:t>Python</a:t>
            </a:r>
            <a:r>
              <a:rPr lang="zh-CN" altLang="en-US" sz="2800" dirty="0"/>
              <a:t>编程能力也有了较大的提高</a:t>
            </a:r>
            <a:endParaRPr lang="en-US" altLang="zh-CN" sz="2800" dirty="0"/>
          </a:p>
          <a:p>
            <a:r>
              <a:rPr lang="zh-CN" altLang="en-US" sz="2800" dirty="0"/>
              <a:t>我深刻体会到要达到人类水平的语言能力的困难，意识到未来还需要更深入的研究</a:t>
            </a:r>
            <a:endParaRPr lang="zh-CN" alt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242929" y="432866"/>
            <a:ext cx="8187071" cy="4064627"/>
          </a:xfrm>
        </p:spPr>
        <p:txBody>
          <a:bodyPr/>
          <a:lstStyle/>
          <a:p>
            <a:r>
              <a:rPr kumimoji="1" lang="zh-CN" altLang="en-US" dirty="0"/>
              <a:t>谢谢！</a:t>
            </a:r>
            <a:endParaRPr kumimoji="1" lang="zh-CN" altLang="en-US" dirty="0"/>
          </a:p>
        </p:txBody>
      </p:sp>
      <p:sp>
        <p:nvSpPr>
          <p:cNvPr id="5" name="文本占位符 4"/>
          <p:cNvSpPr>
            <a:spLocks noGrp="1"/>
          </p:cNvSpPr>
          <p:nvPr>
            <p:ph type="body" idx="1"/>
          </p:nvPr>
        </p:nvSpPr>
        <p:spPr>
          <a:xfrm>
            <a:off x="3299598" y="4594173"/>
            <a:ext cx="7017488" cy="951135"/>
          </a:xfrm>
        </p:spPr>
        <p:txBody>
          <a:bodyPr/>
          <a:lstStyle/>
          <a:p>
            <a:r>
              <a:rPr kumimoji="1" lang="en-US" altLang="zh-CN" dirty="0"/>
              <a:t>Thanks</a:t>
            </a:r>
            <a:r>
              <a:rPr kumimoji="1" lang="zh-CN" altLang="en-US" dirty="0"/>
              <a:t> </a:t>
            </a:r>
            <a:r>
              <a:rPr kumimoji="1" lang="en-US" altLang="zh-CN" dirty="0"/>
              <a:t>for</a:t>
            </a:r>
            <a:r>
              <a:rPr kumimoji="1" lang="zh-CN" altLang="en-US" dirty="0"/>
              <a:t> </a:t>
            </a:r>
            <a:r>
              <a:rPr kumimoji="1" lang="en-US" altLang="zh-CN" dirty="0"/>
              <a:t>your attention</a:t>
            </a:r>
            <a:endParaRPr kumimoji="1" lang="zh-CN" altLang="en-US" dirty="0"/>
          </a:p>
        </p:txBody>
      </p:sp>
    </p:spTree>
  </p:cSld>
  <p:clrMapOvr>
    <a:masterClrMapping/>
  </p:clrMapOvr>
</p:sld>
</file>

<file path=ppt/theme/theme1.xml><?xml version="1.0" encoding="utf-8"?>
<a:theme xmlns:a="http://schemas.openxmlformats.org/drawingml/2006/main" name="徽章">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a:ea typeface=""/>
        <a:cs typeface=""/>
      </a:majorFont>
      <a:minorFont>
        <a:latin typeface="Gill Sans MT"/>
        <a:ea typeface=""/>
        <a:cs typeface=""/>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徽章</Template>
  <TotalTime>0</TotalTime>
  <Words>1414</Words>
  <Application>WPS 演示</Application>
  <PresentationFormat>宽屏</PresentationFormat>
  <Paragraphs>84</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宋体</vt:lpstr>
      <vt:lpstr>Wingdings</vt:lpstr>
      <vt:lpstr>Gill Sans MT</vt:lpstr>
      <vt:lpstr>新宋体</vt:lpstr>
      <vt:lpstr>Impact</vt:lpstr>
      <vt:lpstr>微软雅黑</vt:lpstr>
      <vt:lpstr>Arial Unicode MS</vt:lpstr>
      <vt:lpstr>Calibri</vt:lpstr>
      <vt:lpstr>徽章</vt:lpstr>
      <vt:lpstr>基于语义推理的 对话机器人 </vt:lpstr>
      <vt:lpstr>目录</vt:lpstr>
      <vt:lpstr>基本思路：符号主义+连接主义</vt:lpstr>
      <vt:lpstr>基本思路：符号主义+连接主义</vt:lpstr>
      <vt:lpstr>基本思路：符号主义+连接主义</vt:lpstr>
      <vt:lpstr>算法流程</vt:lpstr>
      <vt:lpstr>算法流程</vt:lpstr>
      <vt:lpstr>算法流程</vt:lpstr>
      <vt:lpstr>核心算法：一般对话 </vt:lpstr>
      <vt:lpstr>核心算法：一般对话 </vt:lpstr>
      <vt:lpstr>总结</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从涌现到沉浸</dc:title>
  <dc:creator>张江</dc:creator>
  <cp:lastModifiedBy>刘逸川</cp:lastModifiedBy>
  <cp:revision>207</cp:revision>
  <dcterms:created xsi:type="dcterms:W3CDTF">2015-08-27T02:25:00Z</dcterms:created>
  <dcterms:modified xsi:type="dcterms:W3CDTF">2021-05-23T15:20:04Z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C93206085FDD4896BBF8AD9B415848BF</vt:lpwstr>
  </property>
  <property fmtid="{D5CDD505-2E9C-101B-9397-08002B2CF9AE}" pid="3" name="KSOProductBuildVer">
    <vt:lpwstr>2052-11.1.0.10495</vt:lpwstr>
  </property>
</Properties>
</file>